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JetBrains Mono" charset="1" panose="02010509020102050004"/>
      <p:regular r:id="rId20"/>
    </p:embeddedFont>
    <p:embeddedFont>
      <p:font typeface="Akzidenz-Grotesk Bold" charset="1" panose="02000803050000020004"/>
      <p:regular r:id="rId21"/>
    </p:embeddedFont>
    <p:embeddedFont>
      <p:font typeface="Inter" charset="1" panose="02000503000000020004"/>
      <p:regular r:id="rId22"/>
    </p:embeddedFont>
    <p:embeddedFont>
      <p:font typeface="Akzidenz-Grotesk Italics" charset="1" panose="0200050305000009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" r="0" b="-7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0" y="0"/>
            <a:ext cx="3810000" cy="10287000"/>
            <a:chOff x="0" y="0"/>
            <a:chExt cx="508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8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B1020">
                    <a:alpha val="100000"/>
                  </a:srgbClr>
                </a:gs>
                <a:gs pos="60000">
                  <a:srgbClr val="0B1020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8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43000" y="129540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8AA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ML FACULTY REVIEW  ·  PROJECT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1876425"/>
            <a:ext cx="7810500" cy="298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Reproducing &amp; Extending Price-Bin Prediction for Funko Pop Collectibles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5151120"/>
            <a:ext cx="7810500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50">
                <a:solidFill>
                  <a:srgbClr val="C8CDE0"/>
                </a:solidFill>
                <a:latin typeface="Inter"/>
                <a:ea typeface="Inter"/>
                <a:cs typeface="Inter"/>
                <a:sym typeface="Inter"/>
              </a:rPr>
              <a:t>UE24CS352A — Machine Learning  ·  Semester 5K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5803583"/>
            <a:ext cx="762000" cy="28575"/>
            <a:chOff x="0" y="0"/>
            <a:chExt cx="1016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43000" y="6041708"/>
            <a:ext cx="781050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BFF"/>
                </a:solidFill>
                <a:latin typeface="Inter"/>
                <a:ea typeface="Inter"/>
                <a:cs typeface="Inter"/>
                <a:sym typeface="Inter"/>
              </a:rPr>
              <a:t>Rosalin Verma  ·  PES2UG24CS655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BFF"/>
                </a:solidFill>
                <a:latin typeface="Inter"/>
                <a:ea typeface="Inter"/>
                <a:cs typeface="Inter"/>
                <a:sym typeface="Inter"/>
              </a:rPr>
              <a:t>Keerthana M  ·  PES2UG24CS638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6921817"/>
            <a:ext cx="7810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C8CDE0"/>
                </a:solidFill>
                <a:latin typeface="Inter"/>
                <a:ea typeface="Inter"/>
                <a:cs typeface="Inter"/>
                <a:sym typeface="Inter"/>
              </a:rPr>
              <a:t>October 4,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PROBLEM &amp; MOTIVATION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Predicting resale value in a skewed collectibles market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668000" y="1969008"/>
            <a:ext cx="6477000" cy="7239000"/>
          </a:xfrm>
          <a:custGeom>
            <a:avLst/>
            <a:gdLst/>
            <a:ahLst/>
            <a:cxnLst/>
            <a:rect r="r" b="b" t="t" l="l"/>
            <a:pathLst>
              <a:path h="7239000" w="6477000">
                <a:moveTo>
                  <a:pt x="0" y="0"/>
                </a:moveTo>
                <a:lnTo>
                  <a:pt x="6477000" y="0"/>
                </a:lnTo>
                <a:lnTo>
                  <a:pt x="64770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" r="0" b="-5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143000" y="1921383"/>
            <a:ext cx="857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4F6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Challenge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374773"/>
            <a:ext cx="85725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Predict price bins for limited-edition Funko Pop collectibles where secondary-market prices are highly skewed.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3255835"/>
            <a:ext cx="857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FF7A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Why it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3709225"/>
            <a:ext cx="85725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Resale prices vary widely, making exact price prediction difficult with limited transaction data.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4590288"/>
            <a:ext cx="857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9C3B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Key framing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5043678"/>
            <a:ext cx="8572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Formulated as a 5-class classification problem using log-scale price bins.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2/14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DATASET &amp;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StockX secondary market, 359 filtered items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159508"/>
            <a:ext cx="10668000" cy="533400"/>
            <a:chOff x="0" y="0"/>
            <a:chExt cx="142240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24000" cy="711200"/>
            </a:xfrm>
            <a:custGeom>
              <a:avLst/>
              <a:gdLst/>
              <a:ahLst/>
              <a:cxnLst/>
              <a:rect r="r" b="b" t="t" l="l"/>
              <a:pathLst>
                <a:path h="7112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11132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224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1600" y="2302383"/>
            <a:ext cx="3429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16">
                <a:solidFill>
                  <a:srgbClr val="C8CD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FEATURE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43500" y="2302383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16">
                <a:solidFill>
                  <a:srgbClr val="C8CD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DESCRIPTION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" y="2692908"/>
            <a:ext cx="10668000" cy="1047750"/>
            <a:chOff x="0" y="0"/>
            <a:chExt cx="14224000" cy="139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2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22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2959608"/>
            <a:ext cx="57150" cy="514350"/>
            <a:chOff x="0" y="0"/>
            <a:chExt cx="762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685800"/>
            </a:xfrm>
            <a:custGeom>
              <a:avLst/>
              <a:gdLst/>
              <a:ahLst/>
              <a:cxnLst/>
              <a:rect r="r" b="b" t="t" l="l"/>
              <a:pathLst>
                <a:path h="685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2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3740658"/>
            <a:ext cx="10668000" cy="1047750"/>
            <a:chOff x="0" y="0"/>
            <a:chExt cx="142240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22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22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4007358"/>
            <a:ext cx="57150" cy="514350"/>
            <a:chOff x="0" y="0"/>
            <a:chExt cx="76200" cy="685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" cy="685800"/>
            </a:xfrm>
            <a:custGeom>
              <a:avLst/>
              <a:gdLst/>
              <a:ahLst/>
              <a:cxnLst/>
              <a:rect r="r" b="b" t="t" l="l"/>
              <a:pathLst>
                <a:path h="685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62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43000" y="4788408"/>
            <a:ext cx="10668000" cy="1047750"/>
            <a:chOff x="0" y="0"/>
            <a:chExt cx="14224000" cy="139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22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422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" y="5055108"/>
            <a:ext cx="57150" cy="514350"/>
            <a:chOff x="0" y="0"/>
            <a:chExt cx="76200" cy="685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685800"/>
            </a:xfrm>
            <a:custGeom>
              <a:avLst/>
              <a:gdLst/>
              <a:ahLst/>
              <a:cxnLst/>
              <a:rect r="r" b="b" t="t" l="l"/>
              <a:pathLst>
                <a:path h="685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2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3000" y="5836158"/>
            <a:ext cx="10668000" cy="1047750"/>
            <a:chOff x="0" y="0"/>
            <a:chExt cx="14224000" cy="139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22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224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1600" y="6102858"/>
            <a:ext cx="57150" cy="514350"/>
            <a:chOff x="0" y="0"/>
            <a:chExt cx="76200" cy="685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00" cy="685800"/>
            </a:xfrm>
            <a:custGeom>
              <a:avLst/>
              <a:gdLst/>
              <a:ahLst/>
              <a:cxnLst/>
              <a:rect r="r" b="b" t="t" l="l"/>
              <a:pathLst>
                <a:path h="685800" w="76200">
                  <a:moveTo>
                    <a:pt x="0" y="0"/>
                  </a:moveTo>
                  <a:lnTo>
                    <a:pt x="76200" y="0"/>
                  </a:lnTo>
                  <a:lnTo>
                    <a:pt x="762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9B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62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19250" y="2959608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Category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43500" y="3007233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Franchise / character category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19250" y="4007358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Material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43500" y="4054983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Vinyl type and finish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19250" y="5055108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Special_version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143500" y="5102733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product edition / special-version category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19250" y="6102858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Search volume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143500" y="6150483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Public interest proxy (external)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82500" y="2159508"/>
            <a:ext cx="38100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4F6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359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82500" y="3285363"/>
            <a:ext cx="3810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items after filtering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82500" y="3956876"/>
            <a:ext cx="3810000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F7A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59</a:t>
            </a:r>
          </a:p>
          <a:p>
            <a:pPr algn="l">
              <a:lnSpc>
                <a:spcPts val="7200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2382500" y="5082731"/>
            <a:ext cx="3810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+ 4 ordinal features for custom kernel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82500" y="5735193"/>
            <a:ext cx="381000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Search volume is an external popularity signal, log-transformed before scaling.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3/14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TARGET VARIABLE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Five logarithmic price bins — severe class imbalance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8850" y="1157602"/>
            <a:ext cx="12545800" cy="9242813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2192000" y="5899023"/>
            <a:ext cx="5143500" cy="457200"/>
            <a:chOff x="0" y="0"/>
            <a:chExt cx="68580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DE8A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8580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192000" y="2111883"/>
            <a:ext cx="4953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imbalance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0" y="2622423"/>
            <a:ext cx="4953000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Bins 1–2 dominate with 299 items. Bins 4–5 contain only 14 samples combined, making reliable learning and evaluation difficult.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2000" y="3951160"/>
            <a:ext cx="495300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FF7A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83%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0" y="5360860"/>
            <a:ext cx="4953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of all samples are in Bins 1 &amp;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2500" y="5956173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113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 model successfully learned Bin 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4/14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PREPROCESSING &amp; 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Consistent folds, two encodings for two model families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14450" y="3493008"/>
            <a:ext cx="2857500" cy="1524000"/>
            <a:chOff x="0" y="0"/>
            <a:chExt cx="3810000" cy="203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10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4450" y="3493008"/>
            <a:ext cx="2857500" cy="57150"/>
            <a:chOff x="0" y="0"/>
            <a:chExt cx="38100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00" cy="76200"/>
            </a:xfrm>
            <a:custGeom>
              <a:avLst/>
              <a:gdLst/>
              <a:ahLst/>
              <a:cxnLst/>
              <a:rect r="r" b="b" t="t" l="l"/>
              <a:pathLst>
                <a:path h="762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10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210050" y="4255008"/>
            <a:ext cx="266700" cy="0"/>
          </a:xfrm>
          <a:prstGeom prst="line">
            <a:avLst/>
          </a:prstGeom>
          <a:ln cap="flat" w="19050">
            <a:solidFill>
              <a:srgbClr val="5B6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4514850" y="3493008"/>
            <a:ext cx="2857500" cy="1524000"/>
            <a:chOff x="0" y="0"/>
            <a:chExt cx="3810000" cy="203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810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14850" y="3493008"/>
            <a:ext cx="2857500" cy="57150"/>
            <a:chOff x="0" y="0"/>
            <a:chExt cx="38100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0" cy="76200"/>
            </a:xfrm>
            <a:custGeom>
              <a:avLst/>
              <a:gdLst/>
              <a:ahLst/>
              <a:cxnLst/>
              <a:rect r="r" b="b" t="t" l="l"/>
              <a:pathLst>
                <a:path h="762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810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7410450" y="4255008"/>
            <a:ext cx="266700" cy="0"/>
          </a:xfrm>
          <a:prstGeom prst="line">
            <a:avLst/>
          </a:prstGeom>
          <a:ln cap="flat" w="19050">
            <a:solidFill>
              <a:srgbClr val="5B6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7715250" y="3493008"/>
            <a:ext cx="2857500" cy="1524000"/>
            <a:chOff x="0" y="0"/>
            <a:chExt cx="3810000" cy="203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810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15250" y="3493008"/>
            <a:ext cx="2857500" cy="57150"/>
            <a:chOff x="0" y="0"/>
            <a:chExt cx="3810000" cy="76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00" cy="76200"/>
            </a:xfrm>
            <a:custGeom>
              <a:avLst/>
              <a:gdLst/>
              <a:ahLst/>
              <a:cxnLst/>
              <a:rect r="r" b="b" t="t" l="l"/>
              <a:pathLst>
                <a:path h="762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810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0610850" y="4255008"/>
            <a:ext cx="266700" cy="0"/>
          </a:xfrm>
          <a:prstGeom prst="line">
            <a:avLst/>
          </a:prstGeom>
          <a:ln cap="flat" w="19050">
            <a:solidFill>
              <a:srgbClr val="5B6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0915650" y="3493008"/>
            <a:ext cx="2857500" cy="1524000"/>
            <a:chOff x="0" y="0"/>
            <a:chExt cx="3810000" cy="203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810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15650" y="3493008"/>
            <a:ext cx="2857500" cy="57150"/>
            <a:chOff x="0" y="0"/>
            <a:chExt cx="3810000" cy="76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0" cy="76200"/>
            </a:xfrm>
            <a:custGeom>
              <a:avLst/>
              <a:gdLst/>
              <a:ahLst/>
              <a:cxnLst/>
              <a:rect r="r" b="b" t="t" l="l"/>
              <a:pathLst>
                <a:path h="762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B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810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3811250" y="4255008"/>
            <a:ext cx="266700" cy="0"/>
          </a:xfrm>
          <a:prstGeom prst="line">
            <a:avLst/>
          </a:prstGeom>
          <a:ln cap="flat" w="19050">
            <a:solidFill>
              <a:srgbClr val="5B6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4116050" y="3493008"/>
            <a:ext cx="2857500" cy="1524000"/>
            <a:chOff x="0" y="0"/>
            <a:chExt cx="3810000" cy="203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1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810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116050" y="3493008"/>
            <a:ext cx="2857500" cy="57150"/>
            <a:chOff x="0" y="0"/>
            <a:chExt cx="3810000" cy="76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10000" cy="76200"/>
            </a:xfrm>
            <a:custGeom>
              <a:avLst/>
              <a:gdLst/>
              <a:ahLst/>
              <a:cxnLst/>
              <a:rect r="r" b="b" t="t" l="l"/>
              <a:pathLst>
                <a:path h="762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C84C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810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543050" y="3807333"/>
            <a:ext cx="2400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Raw data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43050" y="4293108"/>
            <a:ext cx="24003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StockX · 359 items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743450" y="3807333"/>
            <a:ext cx="2400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Transform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743450" y="4293108"/>
            <a:ext cx="24003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log(search_vol) + Min-Max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43850" y="3807333"/>
            <a:ext cx="2400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Encode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43850" y="4293108"/>
            <a:ext cx="24003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One-hot (59) · Ordinal (4)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144250" y="3807333"/>
            <a:ext cx="2400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Stratified 4-fold CV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144250" y="4293108"/>
            <a:ext cx="24003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shuffle=True · seed=1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344650" y="3807333"/>
            <a:ext cx="2400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Model training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344650" y="4293108"/>
            <a:ext cx="24003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6 models · shared folds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15250" y="5759958"/>
            <a:ext cx="285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FF7A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ONE-HOT · 59 features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810250" y="6020943"/>
            <a:ext cx="666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→ Linear SVM, RBF SVM, Trees, Bagged, XGBoost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715250" y="6415278"/>
            <a:ext cx="285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9B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ORDINAL · 4 features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810250" y="6676263"/>
            <a:ext cx="666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→ Custom kernel SVM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5/14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OVERALL PIPELINE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From raw sales to F1-scored predictions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2000" y="4255008"/>
            <a:ext cx="1524000" cy="1524000"/>
            <a:chOff x="0" y="0"/>
            <a:chExt cx="2032000" cy="203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016000" y="0"/>
                  </a:moveTo>
                  <a:cubicBezTo>
                    <a:pt x="1577121" y="0"/>
                    <a:pt x="2032000" y="454879"/>
                    <a:pt x="2032000" y="1016000"/>
                  </a:cubicBezTo>
                  <a:cubicBezTo>
                    <a:pt x="2032000" y="1577121"/>
                    <a:pt x="1577121" y="2032000"/>
                    <a:pt x="1016000" y="2032000"/>
                  </a:cubicBezTo>
                  <a:cubicBezTo>
                    <a:pt x="454879" y="2032000"/>
                    <a:pt x="0" y="1577121"/>
                    <a:pt x="0" y="1016000"/>
                  </a:cubicBez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3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4159758"/>
            <a:ext cx="1714500" cy="1714500"/>
            <a:chOff x="0" y="0"/>
            <a:chExt cx="22860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ln w="19050" cap="sq">
              <a:solidFill>
                <a:srgbClr val="4F6BFF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2381250" y="5017008"/>
            <a:ext cx="1333500" cy="0"/>
          </a:xfrm>
          <a:prstGeom prst="line">
            <a:avLst/>
          </a:prstGeom>
          <a:ln cap="flat" w="28575">
            <a:solidFill>
              <a:srgbClr val="E2E5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810000" y="4255008"/>
            <a:ext cx="1524000" cy="1524000"/>
            <a:chOff x="0" y="0"/>
            <a:chExt cx="2032000" cy="203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016000" y="0"/>
                  </a:moveTo>
                  <a:cubicBezTo>
                    <a:pt x="1577121" y="0"/>
                    <a:pt x="2032000" y="454879"/>
                    <a:pt x="2032000" y="1016000"/>
                  </a:cubicBezTo>
                  <a:cubicBezTo>
                    <a:pt x="2032000" y="1577121"/>
                    <a:pt x="1577121" y="2032000"/>
                    <a:pt x="1016000" y="2032000"/>
                  </a:cubicBezTo>
                  <a:cubicBezTo>
                    <a:pt x="454879" y="2032000"/>
                    <a:pt x="0" y="1577121"/>
                    <a:pt x="0" y="1016000"/>
                  </a:cubicBez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3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4750" y="4159758"/>
            <a:ext cx="1714500" cy="1714500"/>
            <a:chOff x="0" y="0"/>
            <a:chExt cx="22860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ln w="19050" cap="sq">
              <a:solidFill>
                <a:srgbClr val="19C3B2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8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5429250" y="5017008"/>
            <a:ext cx="1333500" cy="0"/>
          </a:xfrm>
          <a:prstGeom prst="line">
            <a:avLst/>
          </a:prstGeom>
          <a:ln cap="flat" w="28575">
            <a:solidFill>
              <a:srgbClr val="E2E5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6858000" y="4255008"/>
            <a:ext cx="1524000" cy="1524000"/>
            <a:chOff x="0" y="0"/>
            <a:chExt cx="2032000" cy="203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016000" y="0"/>
                  </a:moveTo>
                  <a:cubicBezTo>
                    <a:pt x="1577121" y="0"/>
                    <a:pt x="2032000" y="454879"/>
                    <a:pt x="2032000" y="1016000"/>
                  </a:cubicBezTo>
                  <a:cubicBezTo>
                    <a:pt x="2032000" y="1577121"/>
                    <a:pt x="1577121" y="2032000"/>
                    <a:pt x="1016000" y="2032000"/>
                  </a:cubicBezTo>
                  <a:cubicBezTo>
                    <a:pt x="454879" y="2032000"/>
                    <a:pt x="0" y="1577121"/>
                    <a:pt x="0" y="1016000"/>
                  </a:cubicBez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3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62750" y="4159758"/>
            <a:ext cx="1714500" cy="1714500"/>
            <a:chOff x="0" y="0"/>
            <a:chExt cx="2286000" cy="228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ln w="19050" cap="sq">
              <a:solidFill>
                <a:srgbClr val="FF7A59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8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8477250" y="5017008"/>
            <a:ext cx="1333500" cy="0"/>
          </a:xfrm>
          <a:prstGeom prst="line">
            <a:avLst/>
          </a:prstGeom>
          <a:ln cap="flat" w="28575">
            <a:solidFill>
              <a:srgbClr val="E2E5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9906000" y="4255008"/>
            <a:ext cx="1524000" cy="1524000"/>
            <a:chOff x="0" y="0"/>
            <a:chExt cx="2032000" cy="203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016000" y="0"/>
                  </a:moveTo>
                  <a:cubicBezTo>
                    <a:pt x="1577121" y="0"/>
                    <a:pt x="2032000" y="454879"/>
                    <a:pt x="2032000" y="1016000"/>
                  </a:cubicBezTo>
                  <a:cubicBezTo>
                    <a:pt x="2032000" y="1577121"/>
                    <a:pt x="1577121" y="2032000"/>
                    <a:pt x="1016000" y="2032000"/>
                  </a:cubicBezTo>
                  <a:cubicBezTo>
                    <a:pt x="454879" y="2032000"/>
                    <a:pt x="0" y="1577121"/>
                    <a:pt x="0" y="1016000"/>
                  </a:cubicBez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9B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3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10750" y="4159758"/>
            <a:ext cx="1714500" cy="1714500"/>
            <a:chOff x="0" y="0"/>
            <a:chExt cx="2286000" cy="228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ln w="19050" cap="sq">
              <a:solidFill>
                <a:srgbClr val="9B6BFF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8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1525250" y="5017008"/>
            <a:ext cx="1333500" cy="0"/>
          </a:xfrm>
          <a:prstGeom prst="line">
            <a:avLst/>
          </a:prstGeom>
          <a:ln cap="flat" w="28575">
            <a:solidFill>
              <a:srgbClr val="E2E5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2954000" y="4255008"/>
            <a:ext cx="1524000" cy="1524000"/>
            <a:chOff x="0" y="0"/>
            <a:chExt cx="2032000" cy="203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016000" y="0"/>
                  </a:moveTo>
                  <a:cubicBezTo>
                    <a:pt x="1577121" y="0"/>
                    <a:pt x="2032000" y="454879"/>
                    <a:pt x="2032000" y="1016000"/>
                  </a:cubicBezTo>
                  <a:cubicBezTo>
                    <a:pt x="2032000" y="1577121"/>
                    <a:pt x="1577121" y="2032000"/>
                    <a:pt x="1016000" y="2032000"/>
                  </a:cubicBezTo>
                  <a:cubicBezTo>
                    <a:pt x="454879" y="2032000"/>
                    <a:pt x="0" y="1577121"/>
                    <a:pt x="0" y="1016000"/>
                  </a:cubicBez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F5C84C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03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858750" y="4159758"/>
            <a:ext cx="1714500" cy="1714500"/>
            <a:chOff x="0" y="0"/>
            <a:chExt cx="2286000" cy="2286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ln w="19050" cap="sq">
              <a:solidFill>
                <a:srgbClr val="F5C84C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28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>
            <a:off x="14573250" y="5017008"/>
            <a:ext cx="1333500" cy="0"/>
          </a:xfrm>
          <a:prstGeom prst="line">
            <a:avLst/>
          </a:prstGeom>
          <a:ln cap="flat" w="28575">
            <a:solidFill>
              <a:srgbClr val="E2E5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6002000" y="4255008"/>
            <a:ext cx="1524000" cy="1524000"/>
            <a:chOff x="0" y="0"/>
            <a:chExt cx="2032000" cy="203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016000" y="0"/>
                  </a:moveTo>
                  <a:cubicBezTo>
                    <a:pt x="1577121" y="0"/>
                    <a:pt x="2032000" y="454879"/>
                    <a:pt x="2032000" y="1016000"/>
                  </a:cubicBezTo>
                  <a:cubicBezTo>
                    <a:pt x="2032000" y="1577121"/>
                    <a:pt x="1577121" y="2032000"/>
                    <a:pt x="1016000" y="2032000"/>
                  </a:cubicBezTo>
                  <a:cubicBezTo>
                    <a:pt x="454879" y="2032000"/>
                    <a:pt x="0" y="1577121"/>
                    <a:pt x="0" y="1016000"/>
                  </a:cubicBezTo>
                  <a:cubicBezTo>
                    <a:pt x="0" y="454879"/>
                    <a:pt x="454879" y="0"/>
                    <a:pt x="10160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03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906750" y="4159758"/>
            <a:ext cx="1714500" cy="1714500"/>
            <a:chOff x="0" y="0"/>
            <a:chExt cx="2286000" cy="2286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ln w="19050" cap="sq">
              <a:solidFill>
                <a:srgbClr val="4F6BFF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28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0" y="6045708"/>
            <a:ext cx="30480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9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Ingest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0" y="6483858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StockX feed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62000" y="4321683"/>
            <a:ext cx="1524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048000" y="6045708"/>
            <a:ext cx="30480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9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Preprocess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048000" y="6483858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log + scale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810000" y="4321683"/>
            <a:ext cx="1524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096000" y="6045708"/>
            <a:ext cx="30480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9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Encode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096000" y="6483858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OHE / Ordinal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58000" y="4321683"/>
            <a:ext cx="1524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0" y="6045708"/>
            <a:ext cx="30480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9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Train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0" y="6483858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6 models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906000" y="4321683"/>
            <a:ext cx="1524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192000" y="6045708"/>
            <a:ext cx="30480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9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Validate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192000" y="6483858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Stratified CV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954000" y="4321683"/>
            <a:ext cx="1524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240000" y="6045708"/>
            <a:ext cx="30480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9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Evaluate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240000" y="6483858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P / R / F1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002000" y="4321683"/>
            <a:ext cx="152400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6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6/14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· BASELINE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Linear SVM vs RBF SVM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1969008"/>
            <a:ext cx="7239000" cy="7048500"/>
            <a:chOff x="0" y="0"/>
            <a:chExt cx="9652000" cy="939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52000" cy="9398000"/>
            </a:xfrm>
            <a:custGeom>
              <a:avLst/>
              <a:gdLst/>
              <a:ahLst/>
              <a:cxnLst/>
              <a:rect r="r" b="b" t="t" l="l"/>
              <a:pathLst>
                <a:path h="9398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9398000"/>
                  </a:lnTo>
                  <a:lnTo>
                    <a:pt x="0" y="9398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52000" cy="943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1969008"/>
            <a:ext cx="7239000" cy="95250"/>
            <a:chOff x="0" y="0"/>
            <a:chExt cx="9652000" cy="12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52000" cy="127000"/>
            </a:xfrm>
            <a:custGeom>
              <a:avLst/>
              <a:gdLst/>
              <a:ahLst/>
              <a:cxnLst/>
              <a:rect r="r" b="b" t="t" l="l"/>
              <a:pathLst>
                <a:path h="127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652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4000" y="2388108"/>
            <a:ext cx="6477000" cy="2476500"/>
            <a:chOff x="0" y="0"/>
            <a:chExt cx="8636000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36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636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905000" y="2769108"/>
            <a:ext cx="5715000" cy="1714500"/>
          </a:xfrm>
          <a:prstGeom prst="line">
            <a:avLst/>
          </a:prstGeom>
          <a:ln cap="flat" w="28575">
            <a:solidFill>
              <a:srgbClr val="4F6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2743200" y="3054858"/>
            <a:ext cx="152400" cy="152400"/>
            <a:chOff x="0" y="0"/>
            <a:chExt cx="203200" cy="20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90900" y="3550158"/>
            <a:ext cx="152400" cy="152400"/>
            <a:chOff x="0" y="0"/>
            <a:chExt cx="203200" cy="20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067050" y="3921633"/>
            <a:ext cx="152400" cy="152400"/>
            <a:chOff x="0" y="0"/>
            <a:chExt cx="203200" cy="203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81700" y="3054858"/>
            <a:ext cx="152400" cy="152400"/>
            <a:chOff x="0" y="0"/>
            <a:chExt cx="203200" cy="203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29400" y="3302508"/>
            <a:ext cx="152400" cy="152400"/>
            <a:chOff x="0" y="0"/>
            <a:chExt cx="203200" cy="203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05550" y="3797808"/>
            <a:ext cx="152400" cy="152400"/>
            <a:chOff x="0" y="0"/>
            <a:chExt cx="203200" cy="203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63000" y="1969008"/>
            <a:ext cx="7239000" cy="7048500"/>
            <a:chOff x="0" y="0"/>
            <a:chExt cx="9652000" cy="939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52000" cy="9398000"/>
            </a:xfrm>
            <a:custGeom>
              <a:avLst/>
              <a:gdLst/>
              <a:ahLst/>
              <a:cxnLst/>
              <a:rect r="r" b="b" t="t" l="l"/>
              <a:pathLst>
                <a:path h="9398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9398000"/>
                  </a:lnTo>
                  <a:lnTo>
                    <a:pt x="0" y="9398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652000" cy="943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763000" y="1969008"/>
            <a:ext cx="7239000" cy="95250"/>
            <a:chOff x="0" y="0"/>
            <a:chExt cx="9652000" cy="127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52000" cy="127000"/>
            </a:xfrm>
            <a:custGeom>
              <a:avLst/>
              <a:gdLst/>
              <a:ahLst/>
              <a:cxnLst/>
              <a:rect r="r" b="b" t="t" l="l"/>
              <a:pathLst>
                <a:path h="127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652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0" y="2388108"/>
            <a:ext cx="6477000" cy="2476500"/>
            <a:chOff x="0" y="0"/>
            <a:chExt cx="8636000" cy="3302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36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636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25250" y="2769108"/>
            <a:ext cx="1714500" cy="1714500"/>
            <a:chOff x="0" y="0"/>
            <a:chExt cx="2286000" cy="2286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ln w="28575" cap="sq">
              <a:solidFill>
                <a:srgbClr val="FF7A59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28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06300" y="3550158"/>
            <a:ext cx="152400" cy="152400"/>
            <a:chOff x="0" y="0"/>
            <a:chExt cx="203200" cy="203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982450" y="3797808"/>
            <a:ext cx="152400" cy="152400"/>
            <a:chOff x="0" y="0"/>
            <a:chExt cx="203200" cy="203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630150" y="3302508"/>
            <a:ext cx="152400" cy="152400"/>
            <a:chOff x="0" y="0"/>
            <a:chExt cx="203200" cy="203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039350" y="2931033"/>
            <a:ext cx="152400" cy="152400"/>
            <a:chOff x="0" y="0"/>
            <a:chExt cx="203200" cy="203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573250" y="2807208"/>
            <a:ext cx="152400" cy="152400"/>
            <a:chOff x="0" y="0"/>
            <a:chExt cx="203200" cy="203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15500" y="4169283"/>
            <a:ext cx="152400" cy="152400"/>
            <a:chOff x="0" y="0"/>
            <a:chExt cx="203200" cy="203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897100" y="4293108"/>
            <a:ext cx="152400" cy="152400"/>
            <a:chOff x="0" y="0"/>
            <a:chExt cx="203200" cy="203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524000" y="5140833"/>
            <a:ext cx="6477000" cy="52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Linear SVM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24000" y="5848350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·  One-vs-One multiclass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524000" y="6186487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·  Linear decision boundary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24000" y="6524625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·  Baseline reference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24000" y="6862763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·  Val F1 = 0.440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144000" y="5140833"/>
            <a:ext cx="6477000" cy="52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RBF SVM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44000" y="5848350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·  Nonlinear kernel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144000" y="6186487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·  Tested for lift over linear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144000" y="6524625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·  Did not outperform baseline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144000" y="6862763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·  Val F1 = 0.438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7/14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· CUSTOM KERNEL SVM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Weighted similarity across heterogeneous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810000" y="2502408"/>
            <a:ext cx="6477000" cy="419100"/>
            <a:chOff x="0" y="0"/>
            <a:chExt cx="8636000" cy="55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6000" cy="558800"/>
            </a:xfrm>
            <a:custGeom>
              <a:avLst/>
              <a:gdLst/>
              <a:ahLst/>
              <a:cxnLst/>
              <a:rect r="r" b="b" t="t" l="l"/>
              <a:pathLst>
                <a:path h="5588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636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10000" y="2502408"/>
            <a:ext cx="4318000" cy="419100"/>
            <a:chOff x="0" y="0"/>
            <a:chExt cx="5757333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7333" cy="558800"/>
            </a:xfrm>
            <a:custGeom>
              <a:avLst/>
              <a:gdLst/>
              <a:ahLst/>
              <a:cxnLst/>
              <a:rect r="r" b="b" t="t" l="l"/>
              <a:pathLst>
                <a:path h="558800" w="5757333">
                  <a:moveTo>
                    <a:pt x="0" y="0"/>
                  </a:moveTo>
                  <a:lnTo>
                    <a:pt x="5757333" y="0"/>
                  </a:lnTo>
                  <a:lnTo>
                    <a:pt x="5757333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757333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10000" y="3550158"/>
            <a:ext cx="6477000" cy="419100"/>
            <a:chOff x="0" y="0"/>
            <a:chExt cx="8636000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36000" cy="558800"/>
            </a:xfrm>
            <a:custGeom>
              <a:avLst/>
              <a:gdLst/>
              <a:ahLst/>
              <a:cxnLst/>
              <a:rect r="r" b="b" t="t" l="l"/>
              <a:pathLst>
                <a:path h="5588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636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810000" y="3550158"/>
            <a:ext cx="2159000" cy="419100"/>
            <a:chOff x="0" y="0"/>
            <a:chExt cx="2878667" cy="55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78667" cy="558800"/>
            </a:xfrm>
            <a:custGeom>
              <a:avLst/>
              <a:gdLst/>
              <a:ahLst/>
              <a:cxnLst/>
              <a:rect r="r" b="b" t="t" l="l"/>
              <a:pathLst>
                <a:path h="558800" w="2878667">
                  <a:moveTo>
                    <a:pt x="0" y="0"/>
                  </a:moveTo>
                  <a:lnTo>
                    <a:pt x="2878667" y="0"/>
                  </a:lnTo>
                  <a:lnTo>
                    <a:pt x="2878667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78667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810000" y="4597908"/>
            <a:ext cx="6477000" cy="419100"/>
            <a:chOff x="0" y="0"/>
            <a:chExt cx="8636000" cy="55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6000" cy="558800"/>
            </a:xfrm>
            <a:custGeom>
              <a:avLst/>
              <a:gdLst/>
              <a:ahLst/>
              <a:cxnLst/>
              <a:rect r="r" b="b" t="t" l="l"/>
              <a:pathLst>
                <a:path h="5588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636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10000" y="4597908"/>
            <a:ext cx="2159000" cy="419100"/>
            <a:chOff x="0" y="0"/>
            <a:chExt cx="2878667" cy="55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78667" cy="558800"/>
            </a:xfrm>
            <a:custGeom>
              <a:avLst/>
              <a:gdLst/>
              <a:ahLst/>
              <a:cxnLst/>
              <a:rect r="r" b="b" t="t" l="l"/>
              <a:pathLst>
                <a:path h="558800" w="2878667">
                  <a:moveTo>
                    <a:pt x="0" y="0"/>
                  </a:moveTo>
                  <a:lnTo>
                    <a:pt x="2878667" y="0"/>
                  </a:lnTo>
                  <a:lnTo>
                    <a:pt x="2878667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878667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810000" y="5645658"/>
            <a:ext cx="6477000" cy="419100"/>
            <a:chOff x="0" y="0"/>
            <a:chExt cx="8636000" cy="55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36000" cy="558800"/>
            </a:xfrm>
            <a:custGeom>
              <a:avLst/>
              <a:gdLst/>
              <a:ahLst/>
              <a:cxnLst/>
              <a:rect r="r" b="b" t="t" l="l"/>
              <a:pathLst>
                <a:path h="5588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636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10000" y="5645658"/>
            <a:ext cx="6477000" cy="419100"/>
            <a:chOff x="0" y="0"/>
            <a:chExt cx="8636000" cy="55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36000" cy="558800"/>
            </a:xfrm>
            <a:custGeom>
              <a:avLst/>
              <a:gdLst/>
              <a:ahLst/>
              <a:cxnLst/>
              <a:rect r="r" b="b" t="t" l="l"/>
              <a:pathLst>
                <a:path h="5588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9B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636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43000" y="2416683"/>
            <a:ext cx="2476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Category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80400" y="2502408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 = 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3000" y="3464433"/>
            <a:ext cx="2476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Material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21400" y="3550158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9C3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 =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3000" y="4512183"/>
            <a:ext cx="2476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Special_version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121400" y="4597908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7A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 = 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3000" y="5559933"/>
            <a:ext cx="2476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Search volume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39400" y="5645658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9B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 = 3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82500" y="2803398"/>
            <a:ext cx="4762500" cy="508635"/>
            <a:chOff x="0" y="0"/>
            <a:chExt cx="6350000" cy="6781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0" cy="678180"/>
            </a:xfrm>
            <a:custGeom>
              <a:avLst/>
              <a:gdLst/>
              <a:ahLst/>
              <a:cxnLst/>
              <a:rect r="r" b="b" t="t" l="l"/>
              <a:pathLst>
                <a:path h="67818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78180"/>
                  </a:lnTo>
                  <a:lnTo>
                    <a:pt x="0" y="678180"/>
                  </a:lnTo>
                  <a:close/>
                </a:path>
              </a:pathLst>
            </a:custGeom>
            <a:solidFill>
              <a:srgbClr val="EE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350000" cy="716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573000" y="2302383"/>
            <a:ext cx="4381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Kernel structure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73000" y="2860548"/>
            <a:ext cx="4381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113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K(x, x′) = Σ wᵢ · kᵢ(xᵢ, xᵢ′)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73000" y="3435858"/>
            <a:ext cx="4381500" cy="117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Each feature type contributes its own similarity kernel. Weights [2, 1, 1, 3] incorporate domain knowledge, giving different feature types different importance.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573000" y="4897945"/>
            <a:ext cx="438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ORDINAL encoding · 4 features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73000" y="5244656"/>
            <a:ext cx="43815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9B6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Val F1 = 0.423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8/14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· TREE-BASED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 single tree overfits; bagging stabilises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1969008"/>
            <a:ext cx="7239000" cy="7048500"/>
            <a:chOff x="0" y="0"/>
            <a:chExt cx="9652000" cy="939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52000" cy="9398000"/>
            </a:xfrm>
            <a:custGeom>
              <a:avLst/>
              <a:gdLst/>
              <a:ahLst/>
              <a:cxnLst/>
              <a:rect r="r" b="b" t="t" l="l"/>
              <a:pathLst>
                <a:path h="9398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9398000"/>
                  </a:lnTo>
                  <a:lnTo>
                    <a:pt x="0" y="9398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52000" cy="943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1969008"/>
            <a:ext cx="7239000" cy="95250"/>
            <a:chOff x="0" y="0"/>
            <a:chExt cx="9652000" cy="12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52000" cy="127000"/>
            </a:xfrm>
            <a:custGeom>
              <a:avLst/>
              <a:gdLst/>
              <a:ahLst/>
              <a:cxnLst/>
              <a:rect r="r" b="b" t="t" l="l"/>
              <a:pathLst>
                <a:path h="127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652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648200" y="2711958"/>
            <a:ext cx="228600" cy="228600"/>
            <a:chOff x="0" y="0"/>
            <a:chExt cx="304800" cy="30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05200" y="3226308"/>
            <a:ext cx="228600" cy="228600"/>
            <a:chOff x="0" y="0"/>
            <a:chExt cx="304800" cy="304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3619500" y="2940558"/>
            <a:ext cx="1143000" cy="285750"/>
          </a:xfrm>
          <a:prstGeom prst="line">
            <a:avLst/>
          </a:prstGeom>
          <a:ln cap="flat" w="19050">
            <a:solidFill>
              <a:srgbClr val="FF7A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5791200" y="3226308"/>
            <a:ext cx="228600" cy="228600"/>
            <a:chOff x="0" y="0"/>
            <a:chExt cx="304800" cy="304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4762500" y="2940558"/>
            <a:ext cx="1143000" cy="285750"/>
          </a:xfrm>
          <a:prstGeom prst="line">
            <a:avLst/>
          </a:prstGeom>
          <a:ln cap="flat" w="19050">
            <a:solidFill>
              <a:srgbClr val="FF7A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3505200" y="3740658"/>
            <a:ext cx="228600" cy="228600"/>
            <a:chOff x="0" y="0"/>
            <a:chExt cx="304800" cy="304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3619500" y="3454908"/>
            <a:ext cx="0" cy="285750"/>
          </a:xfrm>
          <a:prstGeom prst="line">
            <a:avLst/>
          </a:prstGeom>
          <a:ln cap="flat" w="19050">
            <a:solidFill>
              <a:srgbClr val="FF7A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267200" y="3740658"/>
            <a:ext cx="228600" cy="228600"/>
            <a:chOff x="0" y="0"/>
            <a:chExt cx="304800" cy="30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3619500" y="3454908"/>
            <a:ext cx="762000" cy="285750"/>
          </a:xfrm>
          <a:prstGeom prst="line">
            <a:avLst/>
          </a:prstGeom>
          <a:ln cap="flat" w="19050">
            <a:solidFill>
              <a:srgbClr val="FF7A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5029200" y="3740658"/>
            <a:ext cx="228600" cy="228600"/>
            <a:chOff x="0" y="0"/>
            <a:chExt cx="304800" cy="304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flipH="true">
            <a:off x="5143500" y="3454908"/>
            <a:ext cx="762000" cy="285750"/>
          </a:xfrm>
          <a:prstGeom prst="line">
            <a:avLst/>
          </a:prstGeom>
          <a:ln cap="flat" w="19050">
            <a:solidFill>
              <a:srgbClr val="FF7A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5791200" y="3740658"/>
            <a:ext cx="228600" cy="228600"/>
            <a:chOff x="0" y="0"/>
            <a:chExt cx="304800" cy="304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9" id="39"/>
          <p:cNvSpPr/>
          <p:nvPr/>
        </p:nvSpPr>
        <p:spPr>
          <a:xfrm>
            <a:off x="5905500" y="3454908"/>
            <a:ext cx="0" cy="285750"/>
          </a:xfrm>
          <a:prstGeom prst="line">
            <a:avLst/>
          </a:prstGeom>
          <a:ln cap="flat" w="19050">
            <a:solidFill>
              <a:srgbClr val="FF7A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8763000" y="1969008"/>
            <a:ext cx="7239000" cy="7048500"/>
            <a:chOff x="0" y="0"/>
            <a:chExt cx="9652000" cy="9398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52000" cy="9398000"/>
            </a:xfrm>
            <a:custGeom>
              <a:avLst/>
              <a:gdLst/>
              <a:ahLst/>
              <a:cxnLst/>
              <a:rect r="r" b="b" t="t" l="l"/>
              <a:pathLst>
                <a:path h="9398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9398000"/>
                  </a:lnTo>
                  <a:lnTo>
                    <a:pt x="0" y="9398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652000" cy="943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763000" y="1969008"/>
            <a:ext cx="7239000" cy="95250"/>
            <a:chOff x="0" y="0"/>
            <a:chExt cx="9652000" cy="127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52000" cy="127000"/>
            </a:xfrm>
            <a:custGeom>
              <a:avLst/>
              <a:gdLst/>
              <a:ahLst/>
              <a:cxnLst/>
              <a:rect r="r" b="b" t="t" l="l"/>
              <a:pathLst>
                <a:path h="127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652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363200" y="2711958"/>
            <a:ext cx="228600" cy="228600"/>
            <a:chOff x="0" y="0"/>
            <a:chExt cx="304800" cy="304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20200" y="3226308"/>
            <a:ext cx="228600" cy="228600"/>
            <a:chOff x="0" y="0"/>
            <a:chExt cx="304800" cy="304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2" id="52"/>
          <p:cNvSpPr/>
          <p:nvPr/>
        </p:nvSpPr>
        <p:spPr>
          <a:xfrm flipH="true">
            <a:off x="9334500" y="2940558"/>
            <a:ext cx="1143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1506200" y="3226308"/>
            <a:ext cx="228600" cy="228600"/>
            <a:chOff x="0" y="0"/>
            <a:chExt cx="304800" cy="304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6" id="56"/>
          <p:cNvSpPr/>
          <p:nvPr/>
        </p:nvSpPr>
        <p:spPr>
          <a:xfrm>
            <a:off x="10477500" y="2940558"/>
            <a:ext cx="1143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9220200" y="3740658"/>
            <a:ext cx="228600" cy="228600"/>
            <a:chOff x="0" y="0"/>
            <a:chExt cx="304800" cy="304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0" id="60"/>
          <p:cNvSpPr/>
          <p:nvPr/>
        </p:nvSpPr>
        <p:spPr>
          <a:xfrm>
            <a:off x="9334500" y="3454908"/>
            <a:ext cx="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9982200" y="3740658"/>
            <a:ext cx="228600" cy="228600"/>
            <a:chOff x="0" y="0"/>
            <a:chExt cx="304800" cy="304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4" id="64"/>
          <p:cNvSpPr/>
          <p:nvPr/>
        </p:nvSpPr>
        <p:spPr>
          <a:xfrm>
            <a:off x="9334500" y="3454908"/>
            <a:ext cx="762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10744200" y="3740658"/>
            <a:ext cx="228600" cy="228600"/>
            <a:chOff x="0" y="0"/>
            <a:chExt cx="304800" cy="304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8" id="68"/>
          <p:cNvSpPr/>
          <p:nvPr/>
        </p:nvSpPr>
        <p:spPr>
          <a:xfrm flipH="true">
            <a:off x="10858500" y="3454908"/>
            <a:ext cx="762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1506200" y="3740658"/>
            <a:ext cx="228600" cy="228600"/>
            <a:chOff x="0" y="0"/>
            <a:chExt cx="304800" cy="304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2" id="72"/>
          <p:cNvSpPr/>
          <p:nvPr/>
        </p:nvSpPr>
        <p:spPr>
          <a:xfrm>
            <a:off x="11620500" y="3454908"/>
            <a:ext cx="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12268200" y="2711958"/>
            <a:ext cx="228600" cy="228600"/>
            <a:chOff x="0" y="0"/>
            <a:chExt cx="304800" cy="304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125200" y="3226308"/>
            <a:ext cx="228600" cy="228600"/>
            <a:chOff x="0" y="0"/>
            <a:chExt cx="304800" cy="304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9" id="79"/>
          <p:cNvSpPr/>
          <p:nvPr/>
        </p:nvSpPr>
        <p:spPr>
          <a:xfrm flipH="true">
            <a:off x="11239500" y="2940558"/>
            <a:ext cx="1143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0" id="80"/>
          <p:cNvGrpSpPr/>
          <p:nvPr/>
        </p:nvGrpSpPr>
        <p:grpSpPr>
          <a:xfrm rot="0">
            <a:off x="13411200" y="3226308"/>
            <a:ext cx="228600" cy="228600"/>
            <a:chOff x="0" y="0"/>
            <a:chExt cx="304800" cy="304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3" id="83"/>
          <p:cNvSpPr/>
          <p:nvPr/>
        </p:nvSpPr>
        <p:spPr>
          <a:xfrm>
            <a:off x="12382500" y="2940558"/>
            <a:ext cx="1143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4" id="84"/>
          <p:cNvGrpSpPr/>
          <p:nvPr/>
        </p:nvGrpSpPr>
        <p:grpSpPr>
          <a:xfrm rot="0">
            <a:off x="11125200" y="3740658"/>
            <a:ext cx="228600" cy="228600"/>
            <a:chOff x="0" y="0"/>
            <a:chExt cx="304800" cy="304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7" id="87"/>
          <p:cNvSpPr/>
          <p:nvPr/>
        </p:nvSpPr>
        <p:spPr>
          <a:xfrm>
            <a:off x="11239500" y="3454908"/>
            <a:ext cx="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8" id="88"/>
          <p:cNvGrpSpPr/>
          <p:nvPr/>
        </p:nvGrpSpPr>
        <p:grpSpPr>
          <a:xfrm rot="0">
            <a:off x="11887200" y="3740658"/>
            <a:ext cx="228600" cy="228600"/>
            <a:chOff x="0" y="0"/>
            <a:chExt cx="304800" cy="304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1" id="91"/>
          <p:cNvSpPr/>
          <p:nvPr/>
        </p:nvSpPr>
        <p:spPr>
          <a:xfrm>
            <a:off x="11239500" y="3454908"/>
            <a:ext cx="762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2" id="92"/>
          <p:cNvGrpSpPr/>
          <p:nvPr/>
        </p:nvGrpSpPr>
        <p:grpSpPr>
          <a:xfrm rot="0">
            <a:off x="12649200" y="3740658"/>
            <a:ext cx="228600" cy="228600"/>
            <a:chOff x="0" y="0"/>
            <a:chExt cx="304800" cy="304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5" id="95"/>
          <p:cNvSpPr/>
          <p:nvPr/>
        </p:nvSpPr>
        <p:spPr>
          <a:xfrm flipH="true">
            <a:off x="12763500" y="3454908"/>
            <a:ext cx="762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6" id="96"/>
          <p:cNvGrpSpPr/>
          <p:nvPr/>
        </p:nvGrpSpPr>
        <p:grpSpPr>
          <a:xfrm rot="0">
            <a:off x="13411200" y="3740658"/>
            <a:ext cx="228600" cy="228600"/>
            <a:chOff x="0" y="0"/>
            <a:chExt cx="304800" cy="304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9" id="99"/>
          <p:cNvSpPr/>
          <p:nvPr/>
        </p:nvSpPr>
        <p:spPr>
          <a:xfrm>
            <a:off x="13525500" y="3454908"/>
            <a:ext cx="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0" id="100"/>
          <p:cNvGrpSpPr/>
          <p:nvPr/>
        </p:nvGrpSpPr>
        <p:grpSpPr>
          <a:xfrm rot="0">
            <a:off x="14173200" y="2711958"/>
            <a:ext cx="228600" cy="228600"/>
            <a:chOff x="0" y="0"/>
            <a:chExt cx="304800" cy="3048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030200" y="3226308"/>
            <a:ext cx="228600" cy="228600"/>
            <a:chOff x="0" y="0"/>
            <a:chExt cx="304800" cy="3048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06" id="106"/>
          <p:cNvSpPr/>
          <p:nvPr/>
        </p:nvSpPr>
        <p:spPr>
          <a:xfrm flipH="true">
            <a:off x="13144500" y="2940558"/>
            <a:ext cx="1143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7" id="107"/>
          <p:cNvGrpSpPr/>
          <p:nvPr/>
        </p:nvGrpSpPr>
        <p:grpSpPr>
          <a:xfrm rot="0">
            <a:off x="15316200" y="3226308"/>
            <a:ext cx="228600" cy="228600"/>
            <a:chOff x="0" y="0"/>
            <a:chExt cx="304800" cy="3048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0" id="110"/>
          <p:cNvSpPr/>
          <p:nvPr/>
        </p:nvSpPr>
        <p:spPr>
          <a:xfrm>
            <a:off x="14287500" y="2940558"/>
            <a:ext cx="1143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1" id="111"/>
          <p:cNvGrpSpPr/>
          <p:nvPr/>
        </p:nvGrpSpPr>
        <p:grpSpPr>
          <a:xfrm rot="0">
            <a:off x="13030200" y="3740658"/>
            <a:ext cx="228600" cy="228600"/>
            <a:chOff x="0" y="0"/>
            <a:chExt cx="304800" cy="304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4" id="114"/>
          <p:cNvSpPr/>
          <p:nvPr/>
        </p:nvSpPr>
        <p:spPr>
          <a:xfrm>
            <a:off x="13144500" y="3454908"/>
            <a:ext cx="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5" id="115"/>
          <p:cNvGrpSpPr/>
          <p:nvPr/>
        </p:nvGrpSpPr>
        <p:grpSpPr>
          <a:xfrm rot="0">
            <a:off x="13792200" y="3740658"/>
            <a:ext cx="228600" cy="228600"/>
            <a:chOff x="0" y="0"/>
            <a:chExt cx="304800" cy="3048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8" id="118"/>
          <p:cNvSpPr/>
          <p:nvPr/>
        </p:nvSpPr>
        <p:spPr>
          <a:xfrm>
            <a:off x="13144500" y="3454908"/>
            <a:ext cx="762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9" id="119"/>
          <p:cNvGrpSpPr/>
          <p:nvPr/>
        </p:nvGrpSpPr>
        <p:grpSpPr>
          <a:xfrm rot="0">
            <a:off x="14554200" y="3740658"/>
            <a:ext cx="228600" cy="228600"/>
            <a:chOff x="0" y="0"/>
            <a:chExt cx="304800" cy="304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2" id="122"/>
          <p:cNvSpPr/>
          <p:nvPr/>
        </p:nvSpPr>
        <p:spPr>
          <a:xfrm flipH="true">
            <a:off x="14668500" y="3454908"/>
            <a:ext cx="76200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3" id="123"/>
          <p:cNvGrpSpPr/>
          <p:nvPr/>
        </p:nvGrpSpPr>
        <p:grpSpPr>
          <a:xfrm rot="0">
            <a:off x="15316200" y="3740658"/>
            <a:ext cx="228600" cy="228600"/>
            <a:chOff x="0" y="0"/>
            <a:chExt cx="304800" cy="3048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6" id="126"/>
          <p:cNvSpPr/>
          <p:nvPr/>
        </p:nvSpPr>
        <p:spPr>
          <a:xfrm>
            <a:off x="15430500" y="3454908"/>
            <a:ext cx="0" cy="285750"/>
          </a:xfrm>
          <a:prstGeom prst="line">
            <a:avLst/>
          </a:prstGeom>
          <a:ln cap="flat" w="19050">
            <a:solidFill>
              <a:srgbClr val="19C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7" id="127"/>
          <p:cNvSpPr txBox="true"/>
          <p:nvPr/>
        </p:nvSpPr>
        <p:spPr>
          <a:xfrm rot="0">
            <a:off x="1524000" y="4788408"/>
            <a:ext cx="6477000" cy="51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1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Decision Tree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524000" y="5331714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Non-parametric. Overfits small, imbalanced data.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524000" y="5936551"/>
            <a:ext cx="190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5B60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 F1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524000" y="6029896"/>
            <a:ext cx="1905000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0.983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3619500" y="5936551"/>
            <a:ext cx="190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5B60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F1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3619500" y="6029896"/>
            <a:ext cx="1905000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7A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0.409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524000" y="6978587"/>
            <a:ext cx="6477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FF7A59"/>
                </a:solidFill>
                <a:latin typeface="Inter"/>
                <a:ea typeface="Inter"/>
                <a:cs typeface="Inter"/>
                <a:sym typeface="Inter"/>
              </a:rPr>
              <a:t>Train–Val gap = 0.574  ·  classic overfit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9144000" y="4788408"/>
            <a:ext cx="6477000" cy="51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1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Bagged Decision Tree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9144000" y="5331714"/>
            <a:ext cx="64770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Ensemble of 100 trees · bootstrap aggregation.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9144000" y="5936551"/>
            <a:ext cx="190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5B60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 F1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9144000" y="6029896"/>
            <a:ext cx="1905000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0.983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1239500" y="5936551"/>
            <a:ext cx="190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5B60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F1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1239500" y="6029896"/>
            <a:ext cx="1905000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19C3B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0.456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9144000" y="6978587"/>
            <a:ext cx="6477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9C3B2"/>
                </a:solidFill>
                <a:latin typeface="Inter"/>
                <a:ea typeface="Inter"/>
                <a:cs typeface="Inter"/>
                <a:sym typeface="Inter"/>
              </a:rPr>
              <a:t>Highest validation F1 among the reference models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9/14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· PROJECT EXTENSION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XGBoost — gradient boosting over sequential trees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05000" y="2731008"/>
            <a:ext cx="2095500" cy="952500"/>
            <a:chOff x="0" y="0"/>
            <a:chExt cx="2794000" cy="127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B6B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038600" y="3207258"/>
            <a:ext cx="304800" cy="0"/>
          </a:xfrm>
          <a:prstGeom prst="line">
            <a:avLst/>
          </a:prstGeom>
          <a:ln cap="flat" w="19050">
            <a:solidFill>
              <a:srgbClr val="5B6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381500" y="2731008"/>
            <a:ext cx="2095500" cy="952500"/>
            <a:chOff x="0" y="0"/>
            <a:chExt cx="2794000" cy="127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9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5C84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9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6515100" y="3207258"/>
            <a:ext cx="304800" cy="0"/>
          </a:xfrm>
          <a:prstGeom prst="line">
            <a:avLst/>
          </a:prstGeom>
          <a:ln cap="flat" w="19050">
            <a:solidFill>
              <a:srgbClr val="5B6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6858000" y="2731008"/>
            <a:ext cx="2095500" cy="952500"/>
            <a:chOff x="0" y="0"/>
            <a:chExt cx="2794000" cy="127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9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B6B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79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991600" y="3207258"/>
            <a:ext cx="304800" cy="0"/>
          </a:xfrm>
          <a:prstGeom prst="line">
            <a:avLst/>
          </a:prstGeom>
          <a:ln cap="flat" w="19050">
            <a:solidFill>
              <a:srgbClr val="5B6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334500" y="2731008"/>
            <a:ext cx="2095500" cy="952500"/>
            <a:chOff x="0" y="0"/>
            <a:chExt cx="2794000" cy="127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9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5C84C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79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1468100" y="3207258"/>
            <a:ext cx="304800" cy="0"/>
          </a:xfrm>
          <a:prstGeom prst="line">
            <a:avLst/>
          </a:prstGeom>
          <a:ln cap="flat" w="19050">
            <a:solidFill>
              <a:srgbClr val="5B6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1811000" y="2731008"/>
            <a:ext cx="2095500" cy="952500"/>
            <a:chOff x="0" y="0"/>
            <a:chExt cx="2794000" cy="127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9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B6B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79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3944600" y="3207258"/>
            <a:ext cx="304800" cy="0"/>
          </a:xfrm>
          <a:prstGeom prst="line">
            <a:avLst/>
          </a:prstGeom>
          <a:ln cap="flat" w="19050">
            <a:solidFill>
              <a:srgbClr val="5B60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4287500" y="2731008"/>
            <a:ext cx="2095500" cy="952500"/>
            <a:chOff x="0" y="0"/>
            <a:chExt cx="2794000" cy="127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9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4F6BFF"/>
            </a:solidFill>
            <a:ln w="19050" cap="sq">
              <a:solidFill>
                <a:srgbClr val="4F6B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79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905000" y="2978658"/>
            <a:ext cx="2095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Tree 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381500" y="2978658"/>
            <a:ext cx="2095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+ Residuals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58000" y="2978658"/>
            <a:ext cx="2095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Tree 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34500" y="2978658"/>
            <a:ext cx="2095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+ Residuals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11000" y="2978658"/>
            <a:ext cx="2095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Tree 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87500" y="2978658"/>
            <a:ext cx="2095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Prediction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19250" y="4826508"/>
            <a:ext cx="4762500" cy="2095500"/>
            <a:chOff x="0" y="0"/>
            <a:chExt cx="6350000" cy="2794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5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35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19250" y="4826508"/>
            <a:ext cx="57150" cy="2095500"/>
            <a:chOff x="0" y="0"/>
            <a:chExt cx="76200" cy="279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762750" y="4826508"/>
            <a:ext cx="4762500" cy="2095500"/>
            <a:chOff x="0" y="0"/>
            <a:chExt cx="6350000" cy="2794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35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762750" y="4826508"/>
            <a:ext cx="57150" cy="2095500"/>
            <a:chOff x="0" y="0"/>
            <a:chExt cx="76200" cy="2794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06250" y="4826508"/>
            <a:ext cx="4762500" cy="2095500"/>
            <a:chOff x="0" y="0"/>
            <a:chExt cx="6350000" cy="2794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5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35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906250" y="4826508"/>
            <a:ext cx="57150" cy="2095500"/>
            <a:chOff x="0" y="0"/>
            <a:chExt cx="76200" cy="2794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924050" y="5045583"/>
            <a:ext cx="41529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Default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924050" y="5527548"/>
            <a:ext cx="41529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n=100, lr=0.3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24050" y="5874258"/>
            <a:ext cx="41529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4F6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Val F1  0.452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067550" y="5045583"/>
            <a:ext cx="41529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Shallow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067550" y="5527548"/>
            <a:ext cx="41529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max_depth=3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067550" y="5874258"/>
            <a:ext cx="415290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9C3B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Val F1  0.454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211050" y="5045583"/>
            <a:ext cx="41529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Class-balanced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211050" y="5527548"/>
            <a:ext cx="41529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sample_weight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211050" y="5874258"/>
            <a:ext cx="4152900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7A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Did not improve validation F1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10/14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· MODEL COMPARISON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Validation F1 across all six models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04321" y="596855"/>
            <a:ext cx="19077592" cy="10373831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11/14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· KEY FINDINGS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What the numbers actually tell us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159508"/>
            <a:ext cx="5143500" cy="2095500"/>
            <a:chOff x="0" y="0"/>
            <a:chExt cx="6858000" cy="279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858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2159508"/>
            <a:ext cx="57150" cy="2095500"/>
            <a:chOff x="0" y="0"/>
            <a:chExt cx="76200" cy="279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9C3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72250" y="2159508"/>
            <a:ext cx="5143500" cy="2095500"/>
            <a:chOff x="0" y="0"/>
            <a:chExt cx="6858000" cy="279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858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72250" y="2159508"/>
            <a:ext cx="57150" cy="2095500"/>
            <a:chOff x="0" y="0"/>
            <a:chExt cx="76200" cy="279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01500" y="2159508"/>
            <a:ext cx="5143500" cy="2095500"/>
            <a:chOff x="0" y="0"/>
            <a:chExt cx="6858000" cy="279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858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01500" y="2159508"/>
            <a:ext cx="57150" cy="2095500"/>
            <a:chOff x="0" y="0"/>
            <a:chExt cx="76200" cy="279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9B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43000" y="4540758"/>
            <a:ext cx="5143500" cy="2095500"/>
            <a:chOff x="0" y="0"/>
            <a:chExt cx="6858000" cy="279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5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858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3000" y="4540758"/>
            <a:ext cx="57150" cy="2095500"/>
            <a:chOff x="0" y="0"/>
            <a:chExt cx="76200" cy="279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72250" y="4540758"/>
            <a:ext cx="5143500" cy="2095500"/>
            <a:chOff x="0" y="0"/>
            <a:chExt cx="6858000" cy="279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5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858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2250" y="4540758"/>
            <a:ext cx="57150" cy="2095500"/>
            <a:chOff x="0" y="0"/>
            <a:chExt cx="76200" cy="279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5C84C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01500" y="4540758"/>
            <a:ext cx="5143500" cy="2095500"/>
            <a:chOff x="0" y="0"/>
            <a:chExt cx="6858000" cy="2794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5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5EE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858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01500" y="4540758"/>
            <a:ext cx="57150" cy="2095500"/>
            <a:chOff x="0" y="0"/>
            <a:chExt cx="76200" cy="2794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5B6072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409700" y="2388108"/>
            <a:ext cx="4610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19C3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WINNER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9700" y="2618613"/>
            <a:ext cx="46101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Bagged DT leads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09700" y="3080575"/>
            <a:ext cx="46101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0.456 validation F1 — bagging smooths out single-tree variance.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38950" y="2388108"/>
            <a:ext cx="4610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RUNNER-UP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38950" y="2618613"/>
            <a:ext cx="46101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XGBoost competitive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838950" y="3080575"/>
            <a:ext cx="46101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0.452 F1, but train F1 = 0.962 signals overfitting.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68200" y="2388108"/>
            <a:ext cx="4610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9B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INSIGHT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68200" y="2618613"/>
            <a:ext cx="46101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RBF ≈ Linear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268200" y="3080575"/>
            <a:ext cx="46101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No lift from nonlinear kernel on this feature space.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09700" y="4769358"/>
            <a:ext cx="4610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FF7A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09700" y="4999863"/>
            <a:ext cx="46101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Overfit single tree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09700" y="5461825"/>
            <a:ext cx="46101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Train 0.983 → Val 0.409: classic high-variance failure.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838950" y="4769358"/>
            <a:ext cx="4610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F5C8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38950" y="4999863"/>
            <a:ext cx="46101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Bin 5 unlearnable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38950" y="5461825"/>
            <a:ext cx="46101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Only 4 samples — no model predicts the rarest bin.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68200" y="4769358"/>
            <a:ext cx="46101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B60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ROOT CAUSE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268200" y="4999863"/>
            <a:ext cx="46101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Data limitation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268200" y="5461825"/>
            <a:ext cx="46101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Severe imbalance and small N cap achievable F1.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12/14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85800"/>
            <a:ext cx="38100" cy="533400"/>
            <a:chOff x="0" y="0"/>
            <a:chExt cx="50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711200"/>
            </a:xfrm>
            <a:custGeom>
              <a:avLst/>
              <a:gdLst/>
              <a:ahLst/>
              <a:cxnLst/>
              <a:rect r="r" b="b" t="t" l="l"/>
              <a:pathLst>
                <a:path h="711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6477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>
                <a:solidFill>
                  <a:srgbClr val="4F6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· CONCLUSION &amp; FUTURE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52500"/>
            <a:ext cx="16002000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1132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Reproduced, extended, and a clear path forward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1969008"/>
            <a:ext cx="7810500" cy="7048500"/>
            <a:chOff x="0" y="0"/>
            <a:chExt cx="10414000" cy="939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14000" cy="9398000"/>
            </a:xfrm>
            <a:custGeom>
              <a:avLst/>
              <a:gdLst/>
              <a:ahLst/>
              <a:cxnLst/>
              <a:rect r="r" b="b" t="t" l="l"/>
              <a:pathLst>
                <a:path h="939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9398000"/>
                  </a:lnTo>
                  <a:lnTo>
                    <a:pt x="0" y="93980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414000" cy="943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1969008"/>
            <a:ext cx="76200" cy="7048500"/>
            <a:chOff x="0" y="0"/>
            <a:chExt cx="101600" cy="939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" cy="9398000"/>
            </a:xfrm>
            <a:custGeom>
              <a:avLst/>
              <a:gdLst/>
              <a:ahLst/>
              <a:cxnLst/>
              <a:rect r="r" b="b" t="t" l="l"/>
              <a:pathLst>
                <a:path h="9398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9398000"/>
                  </a:lnTo>
                  <a:lnTo>
                    <a:pt x="0" y="9398000"/>
                  </a:ln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1600" cy="943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34500" y="1969008"/>
            <a:ext cx="7810500" cy="7048500"/>
            <a:chOff x="0" y="0"/>
            <a:chExt cx="10414000" cy="939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14000" cy="9398000"/>
            </a:xfrm>
            <a:custGeom>
              <a:avLst/>
              <a:gdLst/>
              <a:ahLst/>
              <a:cxnLst/>
              <a:rect r="r" b="b" t="t" l="l"/>
              <a:pathLst>
                <a:path h="939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9398000"/>
                  </a:lnTo>
                  <a:lnTo>
                    <a:pt x="0" y="9398000"/>
                  </a:lnTo>
                  <a:close/>
                </a:path>
              </a:pathLst>
            </a:custGeom>
            <a:solidFill>
              <a:srgbClr val="F6F7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414000" cy="943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34500" y="1969008"/>
            <a:ext cx="76200" cy="7048500"/>
            <a:chOff x="0" y="0"/>
            <a:chExt cx="101600" cy="939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9398000"/>
            </a:xfrm>
            <a:custGeom>
              <a:avLst/>
              <a:gdLst/>
              <a:ahLst/>
              <a:cxnLst/>
              <a:rect r="r" b="b" t="t" l="l"/>
              <a:pathLst>
                <a:path h="9398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9398000"/>
                  </a:lnTo>
                  <a:lnTo>
                    <a:pt x="0" y="9398000"/>
                  </a:ln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1600" cy="943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24000" y="2283333"/>
            <a:ext cx="7048500" cy="52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b="true">
                <a:solidFill>
                  <a:srgbClr val="4F6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Conclusion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15500" y="2283333"/>
            <a:ext cx="7048500" cy="52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b="true">
                <a:solidFill>
                  <a:srgbClr val="FF7A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Future work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76400" y="3171825"/>
            <a:ext cx="133350" cy="133350"/>
            <a:chOff x="0" y="0"/>
            <a:chExt cx="177800" cy="177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000250" y="3028950"/>
            <a:ext cx="657225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Reproduced the reference models with comparable validation results.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76400" y="3900488"/>
            <a:ext cx="133350" cy="133350"/>
            <a:chOff x="0" y="0"/>
            <a:chExt cx="177800" cy="177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000250" y="3757613"/>
            <a:ext cx="6572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Extended with XGBoost — competitive at 0.452 F1.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76400" y="4333875"/>
            <a:ext cx="133350" cy="133350"/>
            <a:chOff x="0" y="0"/>
            <a:chExt cx="177800" cy="177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000250" y="4191000"/>
            <a:ext cx="6572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Observed substantial train–validation gaps in tree-based models.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676400" y="4767262"/>
            <a:ext cx="133350" cy="133350"/>
            <a:chOff x="0" y="0"/>
            <a:chExt cx="177800" cy="177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4F6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000250" y="4624387"/>
            <a:ext cx="6572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Documented class-imbalance ceiling honestly.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867900" y="3171825"/>
            <a:ext cx="133350" cy="133350"/>
            <a:chOff x="0" y="0"/>
            <a:chExt cx="177800" cy="177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191750" y="3028950"/>
            <a:ext cx="6572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Collect more data, especially for rare price bins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867900" y="3605212"/>
            <a:ext cx="133350" cy="133350"/>
            <a:chOff x="0" y="0"/>
            <a:chExt cx="177800" cy="177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191750" y="3462337"/>
            <a:ext cx="6572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Enrich features with fan-forum text and release date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867900" y="4038600"/>
            <a:ext cx="133350" cy="133350"/>
            <a:chOff x="0" y="0"/>
            <a:chExt cx="177800" cy="177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7A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191750" y="3895725"/>
            <a:ext cx="6572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11322"/>
                </a:solidFill>
                <a:latin typeface="Inter"/>
                <a:ea typeface="Inter"/>
                <a:cs typeface="Inter"/>
                <a:sym typeface="Inter"/>
              </a:rPr>
              <a:t>Address class imbalance using SMOTE / cost-sensitive learning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3000" y="9734550"/>
            <a:ext cx="16002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072"/>
                </a:solidFill>
                <a:latin typeface="Inter"/>
                <a:ea typeface="Inter"/>
                <a:cs typeface="Inter"/>
                <a:sym typeface="Inter"/>
              </a:rPr>
              <a:t>UE24CS352A  ·  ML Faculty Review  ·  13/14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43000" y="1676400"/>
            <a:ext cx="1600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spc="270">
                <a:solidFill>
                  <a:srgbClr val="8AA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· 14 OF 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152650"/>
            <a:ext cx="160020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120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Live Demo &amp; Q&amp;A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4391025"/>
            <a:ext cx="16002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>
                <a:solidFill>
                  <a:srgbClr val="C8CDE0"/>
                </a:solidFill>
                <a:latin typeface="Inter"/>
                <a:ea typeface="Inter"/>
                <a:cs typeface="Inter"/>
                <a:sym typeface="Inter"/>
              </a:rPr>
              <a:t>Predicting price bins with our trained models — then your questions.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5286375"/>
            <a:ext cx="16002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spc="330">
                <a:solidFill>
                  <a:srgbClr val="8AA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Rosalin Verma  ·  Keerthana 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5720715"/>
            <a:ext cx="16002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i="true">
                <a:solidFill>
                  <a:srgbClr val="C8CDE0"/>
                </a:solidFill>
                <a:latin typeface="Akzidenz-Grotesk Italics"/>
                <a:ea typeface="Akzidenz-Grotesk Italics"/>
                <a:cs typeface="Akzidenz-Grotesk Italics"/>
                <a:sym typeface="Akzidenz-Grotesk Italics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DAHXEYy_Ptg</dc:identifier>
  <dcterms:modified xsi:type="dcterms:W3CDTF">2011-08-01T06:04:30Z</dcterms:modified>
  <cp:revision>1</cp:revision>
  <dc:title>Funko Pop Price Bins</dc:title>
</cp:coreProperties>
</file>